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 varScale="1">
        <p:scale>
          <a:sx n="153" d="100"/>
          <a:sy n="153" d="100"/>
        </p:scale>
        <p:origin x="464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977ce5e2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d3977ce5e2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d3977ce5e2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977ce5e2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d3977ce5e2_2_2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d3977ce5e2_2_2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977ce5e2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d3977ce5e2_2_4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d3977ce5e2_2_4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3977ce5e2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d3977ce5e2_2_7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d3977ce5e2_2_7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977ce5e2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d3977ce5e2_2_12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d3977ce5e2_2_12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3977ce5e2_2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d3977ce5e2_2_15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d3977ce5e2_2_15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3977ce5e2_2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d3977ce5e2_2_18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d3977ce5e2_2_18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3977ce5e2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3d3977ce5e2_2_27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d3977ce5e2_2_27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48640" y="10058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GB" sz="5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System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48640" y="226771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Local Retrieval-Augmented Generation over PDF Documents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48640" y="2816352"/>
            <a:ext cx="3200400" cy="36576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548640" y="3035808"/>
            <a:ext cx="1536192" cy="347472"/>
          </a:xfrm>
          <a:prstGeom prst="roundRect">
            <a:avLst>
              <a:gd name="adj" fmla="val 21053"/>
            </a:avLst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548640" y="30358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pypdf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249424" y="3035808"/>
            <a:ext cx="1536192" cy="347472"/>
          </a:xfrm>
          <a:prstGeom prst="roundRect">
            <a:avLst>
              <a:gd name="adj" fmla="val 21053"/>
            </a:avLst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2249424" y="30358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Ollama LLM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950208" y="3035808"/>
            <a:ext cx="1536192" cy="347472"/>
          </a:xfrm>
          <a:prstGeom prst="roundRect">
            <a:avLst>
              <a:gd name="adj" fmla="val 21053"/>
            </a:avLst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950208" y="30358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650992" y="3035808"/>
            <a:ext cx="1536192" cy="347472"/>
          </a:xfrm>
          <a:prstGeom prst="roundRect">
            <a:avLst>
              <a:gd name="adj" fmla="val 21053"/>
            </a:avLst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5650992" y="30358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7351776" y="3035808"/>
            <a:ext cx="1536192" cy="347472"/>
          </a:xfrm>
          <a:prstGeom prst="roundRect">
            <a:avLst>
              <a:gd name="adj" fmla="val 21053"/>
            </a:avLst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351776" y="3035808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Local-Only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</a:t>
            </a:r>
            <a:r>
              <a:rPr lang="en-GB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pared</a:t>
            </a:r>
            <a:r>
              <a:rPr lang="en-GB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by: Gayathri Sruthi Gannamaneni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11480" y="932688"/>
            <a:ext cx="6949440" cy="107899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11480" y="932688"/>
            <a:ext cx="54864" cy="1078992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" y="12070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298448" y="102412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PDF Libraries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298448" y="142646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Multiple PDFs with dense information. Manually searching is slow, error-prone, and doesn't scale.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11480" y="2167128"/>
            <a:ext cx="6949440" cy="107899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11480" y="2167128"/>
            <a:ext cx="54864" cy="1078992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" y="2441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1298448" y="225856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LLMs Hallucinate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298448" y="266090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Standalone LLMs generate plausible-sounding but factually wrong answers when asked about specific docs.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11480" y="3401568"/>
            <a:ext cx="6949440" cy="107899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11480" y="3401568"/>
            <a:ext cx="54864" cy="1078992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792" y="36758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298448" y="34930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Source Traceability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298448" y="389534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We need answers traceable back to the actual source file, chunk, and page — not just a guess.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11480" y="4663440"/>
            <a:ext cx="8412480" cy="34747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Solution: RAG — retrieve relevant context first, then let the LLM generate the answer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RAG?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57200" y="82296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Calibri"/>
              <a:buNone/>
            </a:pPr>
            <a:r>
              <a:rPr lang="en-GB" sz="2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RAG  =  Retrieval  +  Augmentation  +  Generation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38912" y="1536192"/>
            <a:ext cx="2651760" cy="29718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38912" y="1536192"/>
            <a:ext cx="2651760" cy="73152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1371600" y="1719072"/>
            <a:ext cx="804672" cy="80467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4752" y="1792224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438912" y="2606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76072" y="3090672"/>
            <a:ext cx="23774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Find the most relevant chunks from your document collection using vector similarity search.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291840" y="1536192"/>
            <a:ext cx="2651760" cy="29718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291840" y="1536192"/>
            <a:ext cx="2651760" cy="73152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224528" y="1719072"/>
            <a:ext cx="804672" cy="804672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7680" y="1792224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3291840" y="2606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429000" y="3090672"/>
            <a:ext cx="23774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Inject the retrieved chunks as context into the LLM prompt. No model training or fine-tuning needed.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144768" y="1536192"/>
            <a:ext cx="2651760" cy="29718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6144768" y="1536192"/>
            <a:ext cx="2651760" cy="73152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7077456" y="1719072"/>
            <a:ext cx="804672" cy="804672"/>
          </a:xfrm>
          <a:prstGeom prst="ellipse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0608" y="1792224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6144768" y="2606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281928" y="3090672"/>
            <a:ext cx="23774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The LLM generates a grounded, accurate answer using only the retrieved document context.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OVERVIEW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INGESTION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57200" y="128016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457200" y="1280160"/>
            <a:ext cx="54864" cy="5669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640080" y="128016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PDF Files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57200" y="184708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57200" y="201168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457200" y="2011680"/>
            <a:ext cx="54864" cy="5669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40080" y="201168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Text Extraction (pypdf)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57200" y="257860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57200" y="274320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57200" y="2743200"/>
            <a:ext cx="54864" cy="5669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40080" y="274320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Chunking + Overlap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57200" y="331012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57200" y="347472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57200" y="3474720"/>
            <a:ext cx="54864" cy="5669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40080" y="347472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Embeddings (Ollama)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57200" y="404164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57200" y="420624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57200" y="4206240"/>
            <a:ext cx="54864" cy="56692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40080" y="420624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FAISS Vector Index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937760" y="128016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4937760" y="1280160"/>
            <a:ext cx="54864" cy="566928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120640" y="128016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User Question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937760" y="184708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937760" y="201168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937760" y="2011680"/>
            <a:ext cx="54864" cy="566928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120640" y="201168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Query Embedding (Ollama)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937760" y="257860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937760" y="274320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937760" y="2743200"/>
            <a:ext cx="54864" cy="566928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120640" y="274320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FAISS Similarity Search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937760" y="331012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937760" y="347472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937760" y="3474720"/>
            <a:ext cx="54864" cy="566928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120640" y="347472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Top-K Relevant Chunks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937760" y="4041648"/>
            <a:ext cx="37490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GB" sz="1300" b="0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937760" y="4206240"/>
            <a:ext cx="3749040" cy="56692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4937760" y="4206240"/>
            <a:ext cx="54864" cy="566928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120640" y="4206240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GB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LLM (Ollama) → Final Answer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 &amp; VECTOR DATABASE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65760" y="868680"/>
            <a:ext cx="3931920" cy="402336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365760" y="868680"/>
            <a:ext cx="3931920" cy="73152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0241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1170432" y="9601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are Embeddings?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48640" y="16642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Text converted to numerical vectors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48640" y="21214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Similar meaning = close in vector 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48640" y="25786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e.g. 'cold chain' near 'temperature logistics'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48640" y="30358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Generated by Ollama locally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48640" y="34930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Computed once during ingestion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02920" y="4069080"/>
            <a:ext cx="3657600" cy="64008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94360" y="4114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onsolas"/>
              <a:buNone/>
            </a:pPr>
            <a:r>
              <a:rPr lang="en-GB" sz="1000" b="0" i="0" u="none" strike="noStrike" cap="non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"cold chain" → [0.21, -0.84, 0.56, 0.13, ...]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846320" y="868680"/>
            <a:ext cx="3931920" cy="402336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846320" y="868680"/>
            <a:ext cx="3931920" cy="73152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0241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5650992" y="9601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 Vector Database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029200" y="16642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Stores all document embeddings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029200" y="21214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Finds nearest-neighbor vectors fast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029200" y="25786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Query embedding → search → Top-K chunks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029200" y="30358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Returns most relevant document 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029200" y="3493008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Char char="•"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References original text for source answer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983480" y="4069080"/>
            <a:ext cx="3657600" cy="64008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074920" y="4114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lang="en-GB" sz="1000" b="0" i="0" u="none" strike="noStrike" cap="non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"What is cold chain?" → chunk 17 of </a:t>
            </a:r>
            <a:r>
              <a:rPr lang="en-GB" sz="10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cold_ chain</a:t>
            </a:r>
            <a:r>
              <a:rPr lang="en-GB" sz="1000" b="0" i="0" u="none" strike="noStrike" cap="non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.pdf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BUILDING THE VECTOR INDEX  (ingest.py)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65760" y="932688"/>
            <a:ext cx="8412480" cy="89611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65760" y="932688"/>
            <a:ext cx="54864" cy="896112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30352" y="1115568"/>
            <a:ext cx="530352" cy="53035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30352" y="111556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720" y="1115568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1874520" y="987552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 Ingestion — pypdf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1874520" y="1389888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Read all PDFs from data/pdfs/. Extract raw text page by page. Handle multi-page documents automatically.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65760" y="1956816"/>
            <a:ext cx="8412480" cy="89611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65760" y="1956816"/>
            <a:ext cx="54864" cy="896112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30352" y="2139696"/>
            <a:ext cx="530352" cy="530352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30352" y="213969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" y="2139696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1874520" y="2011680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 with Overlap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874520" y="2414016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Split text into fixed-size chunks (e.g. 500 chars) with 50-char overlap to preserve context at boundaries.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65760" y="2980944"/>
            <a:ext cx="8412480" cy="89611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365760" y="2980944"/>
            <a:ext cx="54864" cy="896112"/>
          </a:xfrm>
          <a:prstGeom prst="rect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30352" y="3163824"/>
            <a:ext cx="530352" cy="530352"/>
          </a:xfrm>
          <a:prstGeom prst="ellipse">
            <a:avLst/>
          </a:prstGeom>
          <a:solidFill>
            <a:srgbClr val="0284C7"/>
          </a:solidFill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30352" y="316382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8720" y="3163824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/>
          <p:nvPr/>
        </p:nvSpPr>
        <p:spPr>
          <a:xfrm>
            <a:off x="1874520" y="3035808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 Generation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874520" y="3438144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Each chunk passed through Ollama embedding model to produce a numerical vector. Runs fully locally.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65760" y="4005072"/>
            <a:ext cx="8412480" cy="89611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365760" y="4005072"/>
            <a:ext cx="54864" cy="89611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30352" y="4187952"/>
            <a:ext cx="530352" cy="530352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30352" y="41879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88720" y="4187952"/>
            <a:ext cx="530352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/>
          <p:nvPr/>
        </p:nvSpPr>
        <p:spPr>
          <a:xfrm>
            <a:off x="1874520" y="4059936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 Index + Metadata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874520" y="4462272"/>
            <a:ext cx="672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Vectors stored in faiss.index. Metadata (filename, chunk number) saved to metadata.json for source tracing.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QUERYING THE SYSTEM  (query.py)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56032" y="868680"/>
            <a:ext cx="1572768" cy="1874520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256032" y="868680"/>
            <a:ext cx="1572768" cy="6400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640080" y="1005840"/>
            <a:ext cx="804672" cy="80467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54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107899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256032" y="19202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56032" y="240487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is cold chain?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828800" y="1417320"/>
            <a:ext cx="1645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1993392" y="868680"/>
            <a:ext cx="1572768" cy="1874520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1993392" y="868680"/>
            <a:ext cx="1572768" cy="6400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2377440" y="1005840"/>
            <a:ext cx="804672" cy="80467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0592" y="107899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/>
          <p:nvPr/>
        </p:nvSpPr>
        <p:spPr>
          <a:xfrm>
            <a:off x="1993392" y="19202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1993392" y="240487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Ollama → vector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566160" y="1417320"/>
            <a:ext cx="1645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3730752" y="868680"/>
            <a:ext cx="1572768" cy="1874520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3730752" y="868680"/>
            <a:ext cx="1572768" cy="6400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4114800" y="1005840"/>
            <a:ext cx="804672" cy="80467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87952" y="107899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/>
          <p:nvPr/>
        </p:nvSpPr>
        <p:spPr>
          <a:xfrm>
            <a:off x="3730752" y="19202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3730752" y="240487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Find Top-K chunks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303520" y="1417320"/>
            <a:ext cx="1645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468112" y="868680"/>
            <a:ext cx="1572768" cy="1874520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5468112" y="868680"/>
            <a:ext cx="1572768" cy="6400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852160" y="1005840"/>
            <a:ext cx="804672" cy="80467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" name="Google Shape;275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5312" y="107899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/>
          <p:nvPr/>
        </p:nvSpPr>
        <p:spPr>
          <a:xfrm>
            <a:off x="5468112" y="19202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468112" y="240487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Relevant text pulled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7040880" y="1417320"/>
            <a:ext cx="1645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7205472" y="868680"/>
            <a:ext cx="1572768" cy="1874520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7205472" y="868680"/>
            <a:ext cx="1572768" cy="64008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7589520" y="1005840"/>
            <a:ext cx="804672" cy="804672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2672" y="107899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/>
          <p:nvPr/>
        </p:nvSpPr>
        <p:spPr>
          <a:xfrm>
            <a:off x="7205472" y="19202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205472" y="2404872"/>
            <a:ext cx="157276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Grounded response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365760" y="2944368"/>
            <a:ext cx="8412480" cy="192024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502920" y="29992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EXAMPLE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502920" y="3310128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050"/>
              <a:buFont typeface="Consolas"/>
              <a:buNone/>
            </a:pPr>
            <a:r>
              <a:rPr lang="en-GB" sz="1050" b="0" i="0" u="none" strike="noStrike" cap="none">
                <a:solidFill>
                  <a:srgbClr val="E2EEF9"/>
                </a:solidFill>
                <a:latin typeface="Consolas"/>
                <a:ea typeface="Consolas"/>
                <a:cs typeface="Consolas"/>
                <a:sym typeface="Consolas"/>
              </a:rPr>
              <a:t>Top retrieved chunks: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050"/>
              <a:buFont typeface="Consolas"/>
              <a:buNone/>
            </a:pPr>
            <a:r>
              <a:rPr lang="en-GB" sz="1050" b="0" i="0" u="none" strike="noStrike" cap="none">
                <a:solidFill>
                  <a:srgbClr val="E2EEF9"/>
                </a:solidFill>
                <a:latin typeface="Consolas"/>
                <a:ea typeface="Consolas"/>
                <a:cs typeface="Consolas"/>
                <a:sym typeface="Consolas"/>
              </a:rPr>
              <a:t>  1. cold_chain_logistics_framework.pdf | chunk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050"/>
              <a:buFont typeface="Consolas"/>
              <a:buNone/>
            </a:pPr>
            <a:r>
              <a:rPr lang="en-GB" sz="1050" b="0" i="0" u="none" strike="noStrike" cap="none">
                <a:solidFill>
                  <a:srgbClr val="E2EEF9"/>
                </a:solidFill>
                <a:latin typeface="Consolas"/>
                <a:ea typeface="Consolas"/>
                <a:cs typeface="Consolas"/>
                <a:sym typeface="Consolas"/>
              </a:rPr>
              <a:t>Answer: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050"/>
              <a:buFont typeface="Consolas"/>
              <a:buNone/>
            </a:pPr>
            <a:r>
              <a:rPr lang="en-GB" sz="1050" b="0" i="0" u="none" strike="noStrike" cap="none">
                <a:solidFill>
                  <a:srgbClr val="E2EEF9"/>
                </a:solidFill>
                <a:latin typeface="Consolas"/>
                <a:ea typeface="Consolas"/>
                <a:cs typeface="Consolas"/>
                <a:sym typeface="Consolas"/>
              </a:rPr>
              <a:t>  A cold chain is a temperature-controlled supply chain used to store and transport perishable products.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050"/>
              <a:buFont typeface="Consolas"/>
              <a:buNone/>
            </a:pPr>
            <a:r>
              <a:rPr lang="en-GB" sz="1050" b="0" i="0" u="none" strike="noStrike" cap="none">
                <a:solidFill>
                  <a:srgbClr val="E2EEF9"/>
                </a:solidFill>
                <a:latin typeface="Consolas"/>
                <a:ea typeface="Consolas"/>
                <a:cs typeface="Consolas"/>
                <a:sym typeface="Consolas"/>
              </a:rPr>
              <a:t>Sources:  ai_ml_in_coldchain.pdf (chunk 17)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02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END-TO-END WORKING SYSTEM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65760" y="868680"/>
            <a:ext cx="1993392" cy="13716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365760" y="914400"/>
            <a:ext cx="199339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GB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365760" y="1572768"/>
            <a:ext cx="1993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PDFs Indexed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Successfully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2542032" y="868680"/>
            <a:ext cx="1993392" cy="13716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2542032" y="914400"/>
            <a:ext cx="199339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GB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2542032" y="1572768"/>
            <a:ext cx="1993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Generated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718304" y="868680"/>
            <a:ext cx="1993392" cy="13716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4718304" y="914400"/>
            <a:ext cx="199339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GB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4718304" y="1572768"/>
            <a:ext cx="1993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Relevant Chunks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Retrieved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894576" y="868680"/>
            <a:ext cx="1993392" cy="1371600"/>
          </a:xfrm>
          <a:prstGeom prst="rect">
            <a:avLst/>
          </a:prstGeom>
          <a:solidFill>
            <a:srgbClr val="102545"/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6894576" y="914400"/>
            <a:ext cx="199339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GB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6894576" y="1572768"/>
            <a:ext cx="199339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Grounded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Produced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365760" y="2395728"/>
            <a:ext cx="8412480" cy="347472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502920" y="23957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What the system can do: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365760" y="2816352"/>
            <a:ext cx="8412480" cy="47548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1" name="Google Shape;311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28712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/>
          <p:nvPr/>
        </p:nvSpPr>
        <p:spPr>
          <a:xfrm>
            <a:off x="987552" y="2816352"/>
            <a:ext cx="7635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Ask any question → get an answer grounded in actual PDF content, with source file cited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365760" y="3364992"/>
            <a:ext cx="8412480" cy="475488"/>
          </a:xfrm>
          <a:prstGeom prst="rect">
            <a:avLst/>
          </a:prstGeom>
          <a:solidFill>
            <a:srgbClr val="0C1E35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4" name="Google Shape;314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4198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/>
          <p:nvPr/>
        </p:nvSpPr>
        <p:spPr>
          <a:xfrm>
            <a:off x="987552" y="3364992"/>
            <a:ext cx="7635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Works fully locally — no OpenAI, no internet, no cost per query (Ollama + FAISS)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365760" y="3913632"/>
            <a:ext cx="8412480" cy="475488"/>
          </a:xfrm>
          <a:prstGeom prst="rect">
            <a:avLst/>
          </a:prstGeom>
          <a:solidFill>
            <a:srgbClr val="102545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9684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>
            <a:off x="987552" y="3913632"/>
            <a:ext cx="7635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Scales to multiple PDFs — new documents are added by simply re-running ingest.py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0C1E35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45171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2"/>
          <p:cNvSpPr/>
          <p:nvPr/>
        </p:nvSpPr>
        <p:spPr>
          <a:xfrm>
            <a:off x="987552" y="4462272"/>
            <a:ext cx="7635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EF9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E2EEF9"/>
                </a:solidFill>
                <a:latin typeface="Calibri"/>
                <a:ea typeface="Calibri"/>
                <a:cs typeface="Calibri"/>
                <a:sym typeface="Calibri"/>
              </a:rPr>
              <a:t>Traceable answers — every response includes source filename and chunk number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Macintosh PowerPoint</Application>
  <PresentationFormat>On-screen Show (16:9)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Gayathri Sruthi Gannamaneni</cp:lastModifiedBy>
  <cp:revision>1</cp:revision>
  <dcterms:modified xsi:type="dcterms:W3CDTF">2026-03-31T15:26:52Z</dcterms:modified>
</cp:coreProperties>
</file>